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337F4-CFA1-D280-5A78-D3FB637A9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C7056-7AE9-59DB-8123-D84A4CEF8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1F372-2E2A-3E76-3735-142AD5CDA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7798-23B0-4716-8F22-F192522A3CAC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18103-D393-3427-9B39-77710F23C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69C9F-F641-B5DC-9A58-D426BAB12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EDEC-40B3-4955-B89F-440AC1134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746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F97CC-80E3-28B4-B3E0-412069513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9CE1B-F2BF-63D7-57AC-3CE9DA088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8EC55-D0EE-E6FE-5E50-C82E30A4A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7798-23B0-4716-8F22-F192522A3CAC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3C011-3482-F229-C348-3FEC8AB3B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22063-663B-EEFC-FFC7-45E34F5F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EDEC-40B3-4955-B89F-440AC1134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342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B3052-0CAB-5330-8B0F-6B08E03EC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B0D9E-FBBB-BA47-C8F4-4659A2EDA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4B418-D3DE-F28B-579A-F150E71D1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7798-23B0-4716-8F22-F192522A3CAC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D5ED3-B206-E26E-26E9-B724DA3D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3A6EE-5F4D-0687-03B3-03C6A07C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EDEC-40B3-4955-B89F-440AC1134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899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9040-1ADD-F708-9ACE-25117D1EC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EB04B-2D07-0D58-7D3A-70A8195D16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F9BDE-DF7C-BA03-2C19-4E45936B2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6C9E4-51F2-EC0A-A255-0CC27BFC6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7798-23B0-4716-8F22-F192522A3CAC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9DB6E-382F-2C2A-7883-A65B5D5DD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4F889-6935-8C6D-7B08-3CBD7A54A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EDEC-40B3-4955-B89F-440AC1134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141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3E90-5952-7BDA-68CF-FC5561867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4011E-8FFC-59E3-7AFF-1F6CAA938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4B90D1-EE45-6517-AC20-FC0F42306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E16D70-5B4B-2ED9-2062-EB6D32BF7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D67957-1414-600F-B5C0-B4BBDD138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1B907-58AB-0FC1-E420-B9CB8262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7798-23B0-4716-8F22-F192522A3CAC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3F0C54-59F7-C26E-AE76-0B063C3A2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AAC945-DCB4-8EA6-8248-FE1542FA3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EDEC-40B3-4955-B89F-440AC1134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723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255C0-6BC8-EC3B-AB6B-31137119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94610-5BFF-3C9C-F5B4-5B199710F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7798-23B0-4716-8F22-F192522A3CAC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BB8EA-1A47-4D8C-743F-C6072A4E4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A5430-6E68-4451-35BC-043B0852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EDEC-40B3-4955-B89F-440AC1134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504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6BD445-5D75-5C77-371D-C7C2A1436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7798-23B0-4716-8F22-F192522A3CAC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EC1119-DB9D-583A-392F-1C9D32264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C9129-F862-7B65-112B-E623AEBA8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EDEC-40B3-4955-B89F-440AC1134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605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95241-AE94-177E-8B40-0571DEA76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AAA3E-CC4D-E2AF-2DD4-BC9AB37F5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C9398-6C93-3342-AEAA-D867A66B5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9EEED-8FC2-FD02-0F23-3BC155AA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7798-23B0-4716-8F22-F192522A3CAC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6E277-E1AB-771A-EC90-CCF2D0596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B0311-97A6-BDD3-66A6-02F0C1AC7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EDEC-40B3-4955-B89F-440AC1134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719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5516-3F54-6BB1-12C6-BAD4F5B71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8AA1A7-091C-D593-2D36-8CB01DE5AF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C1F252-594E-B1FE-C506-76A13E53C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8ECD7-EFCC-8FB3-8EC7-6762C9556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7798-23B0-4716-8F22-F192522A3CAC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D215E-94DC-9A8C-8A9F-6F276B8F3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79A80-3017-2B8E-9CD0-B2338E424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EDEC-40B3-4955-B89F-440AC1134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1707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E8656-FCA3-420B-2854-4DC9E091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298E28-407A-37ED-2EE8-7F930435D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8FC1B-86E8-2175-64F8-B6B3CECEF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7798-23B0-4716-8F22-F192522A3CAC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A185C-EB68-2F51-1354-26EA41F3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27804-1F9E-A277-815C-15C0A4D3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EDEC-40B3-4955-B89F-440AC1134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346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25EB6C-275F-6FDC-FAC8-7E5D4300DE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70E85-54A4-B649-35CC-0D9CB4646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69ADA-4BEB-6CAA-3AB5-70DFEC56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7798-23B0-4716-8F22-F192522A3CAC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7634E-81EB-7B7C-ACD7-A4FE3E16D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EEC6F-FC24-F841-B2E7-13DBCA32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EDEC-40B3-4955-B89F-440AC1134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585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D64B3-2C43-6781-FE31-B14761F87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855B2-1930-6443-06B1-5CAD578EE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70570-9422-316D-8B88-4EB9B51ED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937798-23B0-4716-8F22-F192522A3CAC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2FF75-453C-459C-2E95-6511ECB68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E7A2A-7152-0CDB-9612-7D505EAB1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A4EDEC-40B3-4955-B89F-440AC1134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22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22BD36BB-7084-19C6-889E-466D6BDE70C2}"/>
              </a:ext>
            </a:extLst>
          </p:cNvPr>
          <p:cNvSpPr/>
          <p:nvPr/>
        </p:nvSpPr>
        <p:spPr>
          <a:xfrm>
            <a:off x="358868" y="0"/>
            <a:ext cx="11474264" cy="6858000"/>
          </a:xfrm>
          <a:prstGeom prst="rect">
            <a:avLst/>
          </a:prstGeom>
          <a:pattFill prst="lgGrid">
            <a:fgClr>
              <a:schemeClr val="bg2">
                <a:lumMod val="9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EE12E2-AEFB-6F11-3C52-B1C0D53D2CB4}"/>
              </a:ext>
            </a:extLst>
          </p:cNvPr>
          <p:cNvSpPr/>
          <p:nvPr/>
        </p:nvSpPr>
        <p:spPr>
          <a:xfrm>
            <a:off x="1612490" y="707923"/>
            <a:ext cx="9006349" cy="79641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Extraction of protein-derived features (838)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672B5B-5EF4-BE65-E80E-DAEEB2DDDE24}"/>
              </a:ext>
            </a:extLst>
          </p:cNvPr>
          <p:cNvSpPr/>
          <p:nvPr/>
        </p:nvSpPr>
        <p:spPr>
          <a:xfrm>
            <a:off x="1612491" y="2615381"/>
            <a:ext cx="3942736" cy="63909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Variance Threshold 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(remove 47 constant features)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26AFB3-E267-BC95-1802-8CE0337AFA23}"/>
              </a:ext>
            </a:extLst>
          </p:cNvPr>
          <p:cNvSpPr/>
          <p:nvPr/>
        </p:nvSpPr>
        <p:spPr>
          <a:xfrm>
            <a:off x="1612491" y="1759974"/>
            <a:ext cx="3942736" cy="63909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StandarScaler</a:t>
            </a: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Normalization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BF66EB-22C9-EF7F-DC14-5B91E710C78E}"/>
              </a:ext>
            </a:extLst>
          </p:cNvPr>
          <p:cNvSpPr/>
          <p:nvPr/>
        </p:nvSpPr>
        <p:spPr>
          <a:xfrm>
            <a:off x="6661356" y="2615381"/>
            <a:ext cx="3942736" cy="63909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Variance Threshold 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(remove 47 constant features)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27B9C1-47CE-B73B-E8D6-8D2CAF6584BB}"/>
              </a:ext>
            </a:extLst>
          </p:cNvPr>
          <p:cNvSpPr/>
          <p:nvPr/>
        </p:nvSpPr>
        <p:spPr>
          <a:xfrm>
            <a:off x="1612491" y="3539690"/>
            <a:ext cx="3942736" cy="63909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UY" dirty="0">
                <a:solidFill>
                  <a:schemeClr val="tx1"/>
                </a:solidFill>
              </a:rPr>
              <a:t>SMOTE </a:t>
            </a:r>
          </a:p>
          <a:p>
            <a:pPr algn="ctr"/>
            <a:r>
              <a:rPr lang="es-UY" dirty="0">
                <a:solidFill>
                  <a:schemeClr val="tx1"/>
                </a:solidFill>
              </a:rPr>
              <a:t>(</a:t>
            </a:r>
            <a:r>
              <a:rPr lang="es-UY" dirty="0" err="1">
                <a:solidFill>
                  <a:schemeClr val="tx1"/>
                </a:solidFill>
              </a:rPr>
              <a:t>Class</a:t>
            </a:r>
            <a:r>
              <a:rPr lang="es-UY" dirty="0">
                <a:solidFill>
                  <a:schemeClr val="tx1"/>
                </a:solidFill>
              </a:rPr>
              <a:t> Balance)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E18BF1-BD23-41AA-0C2F-CEBDDC4F5289}"/>
              </a:ext>
            </a:extLst>
          </p:cNvPr>
          <p:cNvSpPr/>
          <p:nvPr/>
        </p:nvSpPr>
        <p:spPr>
          <a:xfrm>
            <a:off x="1612491" y="4413572"/>
            <a:ext cx="3942736" cy="137762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UY" dirty="0" err="1">
                <a:solidFill>
                  <a:schemeClr val="tx1"/>
                </a:solidFill>
              </a:rPr>
              <a:t>Hyperparameter</a:t>
            </a:r>
            <a:r>
              <a:rPr lang="es-UY" dirty="0">
                <a:solidFill>
                  <a:schemeClr val="tx1"/>
                </a:solidFill>
              </a:rPr>
              <a:t> </a:t>
            </a:r>
            <a:r>
              <a:rPr lang="es-UY" dirty="0" err="1">
                <a:solidFill>
                  <a:schemeClr val="tx1"/>
                </a:solidFill>
              </a:rPr>
              <a:t>Optimization</a:t>
            </a:r>
            <a:r>
              <a:rPr lang="es-UY" dirty="0">
                <a:solidFill>
                  <a:schemeClr val="tx1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UY" dirty="0" err="1">
                <a:solidFill>
                  <a:schemeClr val="tx1"/>
                </a:solidFill>
              </a:rPr>
              <a:t>Kernel</a:t>
            </a:r>
            <a:r>
              <a:rPr lang="es-UY" dirty="0">
                <a:solidFill>
                  <a:schemeClr val="tx1"/>
                </a:solidFill>
              </a:rPr>
              <a:t> </a:t>
            </a:r>
            <a:r>
              <a:rPr lang="es-UY" dirty="0" err="1">
                <a:solidFill>
                  <a:schemeClr val="tx1"/>
                </a:solidFill>
              </a:rPr>
              <a:t>Selection</a:t>
            </a:r>
            <a:r>
              <a:rPr lang="es-UY" dirty="0">
                <a:solidFill>
                  <a:schemeClr val="tx1"/>
                </a:solidFill>
              </a:rPr>
              <a:t> (RFB)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UY" dirty="0" err="1">
                <a:solidFill>
                  <a:schemeClr val="tx1"/>
                </a:solidFill>
              </a:rPr>
              <a:t>SelectKBest</a:t>
            </a:r>
            <a:r>
              <a:rPr lang="es-UY" dirty="0">
                <a:solidFill>
                  <a:schemeClr val="tx1"/>
                </a:solidFill>
              </a:rPr>
              <a:t> (k=529)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UY" dirty="0">
                <a:solidFill>
                  <a:schemeClr val="tx1"/>
                </a:solidFill>
              </a:rPr>
              <a:t>C (1)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UY" dirty="0">
                <a:solidFill>
                  <a:schemeClr val="tx1"/>
                </a:solidFill>
              </a:rPr>
              <a:t>Gamma (0.001)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160C64-13CE-8334-E1A2-6ED29A4A11C1}"/>
              </a:ext>
            </a:extLst>
          </p:cNvPr>
          <p:cNvSpPr/>
          <p:nvPr/>
        </p:nvSpPr>
        <p:spPr>
          <a:xfrm>
            <a:off x="1612490" y="6022414"/>
            <a:ext cx="3942736" cy="63909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UY" dirty="0" err="1">
                <a:solidFill>
                  <a:schemeClr val="tx1"/>
                </a:solidFill>
              </a:rPr>
              <a:t>IApred</a:t>
            </a:r>
            <a:r>
              <a:rPr lang="es-UY" dirty="0">
                <a:solidFill>
                  <a:schemeClr val="tx1"/>
                </a:solidFill>
              </a:rPr>
              <a:t>-SVM </a:t>
            </a:r>
            <a:r>
              <a:rPr lang="es-UY" dirty="0" err="1">
                <a:solidFill>
                  <a:schemeClr val="tx1"/>
                </a:solidFill>
              </a:rPr>
              <a:t>Model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70AFFF1-26BC-DD07-505A-B631E1A4BF3E}"/>
              </a:ext>
            </a:extLst>
          </p:cNvPr>
          <p:cNvSpPr/>
          <p:nvPr/>
        </p:nvSpPr>
        <p:spPr>
          <a:xfrm>
            <a:off x="6636775" y="6022414"/>
            <a:ext cx="3942736" cy="63909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Y" dirty="0" err="1">
                <a:solidFill>
                  <a:schemeClr val="tx1"/>
                </a:solidFill>
              </a:rPr>
              <a:t>IApred-TabPFN</a:t>
            </a:r>
            <a:r>
              <a:rPr lang="es-UY" dirty="0">
                <a:solidFill>
                  <a:schemeClr val="tx1"/>
                </a:solidFill>
              </a:rPr>
              <a:t> </a:t>
            </a:r>
            <a:r>
              <a:rPr lang="es-UY" dirty="0" err="1">
                <a:solidFill>
                  <a:schemeClr val="tx1"/>
                </a:solidFill>
              </a:rPr>
              <a:t>Models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562C88-8C83-1526-765D-5CCC18F622DA}"/>
              </a:ext>
            </a:extLst>
          </p:cNvPr>
          <p:cNvSpPr/>
          <p:nvPr/>
        </p:nvSpPr>
        <p:spPr>
          <a:xfrm>
            <a:off x="6636773" y="4463997"/>
            <a:ext cx="3942736" cy="132720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Y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SelectKBest</a:t>
            </a:r>
            <a:endParaRPr lang="es-UY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s-UY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es-UY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for</a:t>
            </a:r>
            <a:r>
              <a:rPr lang="es-UY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529 and 100 </a:t>
            </a:r>
            <a:r>
              <a:rPr lang="es-UY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features</a:t>
            </a:r>
            <a:r>
              <a:rPr lang="es-UY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UY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models</a:t>
            </a:r>
            <a:r>
              <a:rPr lang="es-UY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EFB7767A-A23D-E60C-AC10-CC6082EF591A}"/>
              </a:ext>
            </a:extLst>
          </p:cNvPr>
          <p:cNvSpPr/>
          <p:nvPr/>
        </p:nvSpPr>
        <p:spPr>
          <a:xfrm>
            <a:off x="10441865" y="1705740"/>
            <a:ext cx="462117" cy="506361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29D517B6-4DBE-5B98-856C-742F279B3B81}"/>
              </a:ext>
            </a:extLst>
          </p:cNvPr>
          <p:cNvSpPr/>
          <p:nvPr/>
        </p:nvSpPr>
        <p:spPr>
          <a:xfrm rot="10800000">
            <a:off x="1288016" y="1691148"/>
            <a:ext cx="462117" cy="506361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B6B6F7-ECE6-EACD-F868-E27EFE3F271D}"/>
              </a:ext>
            </a:extLst>
          </p:cNvPr>
          <p:cNvSpPr txBox="1"/>
          <p:nvPr/>
        </p:nvSpPr>
        <p:spPr>
          <a:xfrm>
            <a:off x="193195" y="3743047"/>
            <a:ext cx="12781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Y" b="1" dirty="0"/>
              <a:t>+700 </a:t>
            </a:r>
          </a:p>
          <a:p>
            <a:pPr algn="ctr"/>
            <a:r>
              <a:rPr lang="es-UY" b="1" dirty="0" err="1"/>
              <a:t>lines</a:t>
            </a:r>
            <a:r>
              <a:rPr lang="es-UY" b="1" dirty="0"/>
              <a:t> </a:t>
            </a:r>
            <a:r>
              <a:rPr lang="es-UY" b="1" dirty="0" err="1"/>
              <a:t>of</a:t>
            </a:r>
            <a:r>
              <a:rPr lang="es-UY" b="1" dirty="0"/>
              <a:t> </a:t>
            </a:r>
            <a:r>
              <a:rPr lang="es-UY" b="1" dirty="0" err="1"/>
              <a:t>code</a:t>
            </a:r>
            <a:endParaRPr lang="en-GB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8E1703-541F-E81C-CF5D-88FC61DF5813}"/>
              </a:ext>
            </a:extLst>
          </p:cNvPr>
          <p:cNvSpPr txBox="1"/>
          <p:nvPr/>
        </p:nvSpPr>
        <p:spPr>
          <a:xfrm>
            <a:off x="10851881" y="3766049"/>
            <a:ext cx="971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Y" b="1" dirty="0"/>
              <a:t>64-67</a:t>
            </a:r>
          </a:p>
          <a:p>
            <a:pPr algn="ctr"/>
            <a:r>
              <a:rPr lang="es-UY" b="1" dirty="0" err="1"/>
              <a:t>lines</a:t>
            </a:r>
            <a:r>
              <a:rPr lang="es-UY" b="1" dirty="0"/>
              <a:t> </a:t>
            </a:r>
            <a:r>
              <a:rPr lang="es-UY" b="1" dirty="0" err="1"/>
              <a:t>of</a:t>
            </a:r>
            <a:r>
              <a:rPr lang="es-UY" b="1" dirty="0"/>
              <a:t> </a:t>
            </a:r>
            <a:r>
              <a:rPr lang="es-UY" b="1" dirty="0" err="1"/>
              <a:t>code</a:t>
            </a:r>
            <a:endParaRPr lang="en-GB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966C12-83DE-83CC-26D0-7105EA740DAE}"/>
              </a:ext>
            </a:extLst>
          </p:cNvPr>
          <p:cNvSpPr txBox="1"/>
          <p:nvPr/>
        </p:nvSpPr>
        <p:spPr>
          <a:xfrm>
            <a:off x="1469911" y="133220"/>
            <a:ext cx="9391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Y" sz="2800" b="1" dirty="0" err="1"/>
              <a:t>Model</a:t>
            </a:r>
            <a:r>
              <a:rPr lang="es-UY" sz="2800" b="1" dirty="0"/>
              <a:t> </a:t>
            </a:r>
            <a:r>
              <a:rPr lang="es-UY" sz="2800" b="1" dirty="0" err="1"/>
              <a:t>generation</a:t>
            </a:r>
            <a:r>
              <a:rPr lang="es-UY" sz="2800" b="1" dirty="0"/>
              <a:t> </a:t>
            </a:r>
            <a:r>
              <a:rPr lang="es-UY" sz="2800" b="1" dirty="0" err="1"/>
              <a:t>Workflow</a:t>
            </a:r>
            <a:r>
              <a:rPr lang="es-UY" sz="2800" b="1" dirty="0"/>
              <a:t> </a:t>
            </a:r>
            <a:r>
              <a:rPr lang="es-UY" sz="2800" b="1" dirty="0" err="1"/>
              <a:t>Comparison</a:t>
            </a:r>
            <a:r>
              <a:rPr lang="es-UY" sz="2800" b="1" dirty="0"/>
              <a:t>: SVM vs </a:t>
            </a:r>
            <a:r>
              <a:rPr lang="es-UY" sz="2800" b="1" dirty="0" err="1"/>
              <a:t>TabPFN</a:t>
            </a:r>
            <a:endParaRPr lang="en-GB" sz="2800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712B28B-04C9-D747-4D92-77C448D99297}"/>
              </a:ext>
            </a:extLst>
          </p:cNvPr>
          <p:cNvCxnSpPr>
            <a:cxnSpLocks/>
          </p:cNvCxnSpPr>
          <p:nvPr/>
        </p:nvCxnSpPr>
        <p:spPr>
          <a:xfrm>
            <a:off x="3583858" y="1503762"/>
            <a:ext cx="77" cy="23835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20515FC-CEB6-8006-B106-4AA30E84C8B7}"/>
              </a:ext>
            </a:extLst>
          </p:cNvPr>
          <p:cNvCxnSpPr>
            <a:cxnSpLocks/>
          </p:cNvCxnSpPr>
          <p:nvPr/>
        </p:nvCxnSpPr>
        <p:spPr>
          <a:xfrm>
            <a:off x="3583781" y="2377026"/>
            <a:ext cx="77" cy="23835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8EDED40-5400-9DB1-B447-A0C322BEABBC}"/>
              </a:ext>
            </a:extLst>
          </p:cNvPr>
          <p:cNvCxnSpPr>
            <a:cxnSpLocks/>
          </p:cNvCxnSpPr>
          <p:nvPr/>
        </p:nvCxnSpPr>
        <p:spPr>
          <a:xfrm>
            <a:off x="3583704" y="3268073"/>
            <a:ext cx="77" cy="23835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C6D59EB-FCBF-F1C6-5D34-D6C03429A4FB}"/>
              </a:ext>
            </a:extLst>
          </p:cNvPr>
          <p:cNvCxnSpPr>
            <a:cxnSpLocks/>
          </p:cNvCxnSpPr>
          <p:nvPr/>
        </p:nvCxnSpPr>
        <p:spPr>
          <a:xfrm>
            <a:off x="3583627" y="4175216"/>
            <a:ext cx="77" cy="23835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80E7EF5-B12A-48C7-05F1-5B93ADA42CB5}"/>
              </a:ext>
            </a:extLst>
          </p:cNvPr>
          <p:cNvCxnSpPr>
            <a:cxnSpLocks/>
          </p:cNvCxnSpPr>
          <p:nvPr/>
        </p:nvCxnSpPr>
        <p:spPr>
          <a:xfrm>
            <a:off x="3583550" y="5787629"/>
            <a:ext cx="77" cy="23835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7C870A5-D521-0DA2-F0DA-16E7FCB9DF27}"/>
              </a:ext>
            </a:extLst>
          </p:cNvPr>
          <p:cNvCxnSpPr>
            <a:cxnSpLocks/>
          </p:cNvCxnSpPr>
          <p:nvPr/>
        </p:nvCxnSpPr>
        <p:spPr>
          <a:xfrm>
            <a:off x="8632801" y="1512977"/>
            <a:ext cx="0" cy="1102403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33163-2300-26F9-4891-10225EE77533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8632645" y="3254477"/>
            <a:ext cx="79" cy="1216659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BF6C52-1E1E-8506-A2B5-48F2A63E2BAB}"/>
              </a:ext>
            </a:extLst>
          </p:cNvPr>
          <p:cNvCxnSpPr>
            <a:cxnSpLocks/>
          </p:cNvCxnSpPr>
          <p:nvPr/>
        </p:nvCxnSpPr>
        <p:spPr>
          <a:xfrm>
            <a:off x="8632645" y="5809985"/>
            <a:ext cx="77" cy="238355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5645E51-5E85-B3A8-F2A5-F8C086348F21}"/>
              </a:ext>
            </a:extLst>
          </p:cNvPr>
          <p:cNvCxnSpPr>
            <a:cxnSpLocks/>
          </p:cNvCxnSpPr>
          <p:nvPr/>
        </p:nvCxnSpPr>
        <p:spPr>
          <a:xfrm flipH="1">
            <a:off x="6115663" y="1542707"/>
            <a:ext cx="2" cy="52650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002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82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Miles</dc:creator>
  <cp:lastModifiedBy>Sebastian Miles</cp:lastModifiedBy>
  <cp:revision>1</cp:revision>
  <dcterms:created xsi:type="dcterms:W3CDTF">2025-12-08T01:35:32Z</dcterms:created>
  <dcterms:modified xsi:type="dcterms:W3CDTF">2025-12-08T02:02:40Z</dcterms:modified>
</cp:coreProperties>
</file>